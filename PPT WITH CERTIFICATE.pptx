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83" r:id="rId2"/>
    <p:sldId id="257" r:id="rId3"/>
    <p:sldId id="282" r:id="rId4"/>
    <p:sldId id="285" r:id="rId5"/>
    <p:sldId id="278" r:id="rId6"/>
    <p:sldId id="264" r:id="rId7"/>
    <p:sldId id="286" r:id="rId8"/>
    <p:sldId id="287" r:id="rId9"/>
    <p:sldId id="280" r:id="rId10"/>
    <p:sldId id="288" r:id="rId11"/>
    <p:sldId id="289" r:id="rId12"/>
    <p:sldId id="276"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DCDCB8-E336-06C9-9BC1-C212CD122CD0}" v="1" dt="2026-06-23T04:41:50.196"/>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62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a:t>IBM University Engagement Project Submission</a:t>
            </a:r>
            <a:br>
              <a:rPr lang="en-US" b="1"/>
            </a:br>
            <a:endParaRPr lang="en-IN"/>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2735000176"/>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a:t>Student Name</a:t>
                      </a:r>
                      <a:endParaRPr sz="1800" u="none" strike="noStrike" cap="none"/>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a:t>Recent Passport Photo</a:t>
                      </a:r>
                      <a:endParaRPr sz="1800" u="none" strike="noStrike" cap="none"/>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000000"/>
                          </a:solidFill>
                          <a:latin typeface="Arial"/>
                          <a:ea typeface="Calibri"/>
                          <a:cs typeface="Arial"/>
                          <a:sym typeface="Calibri"/>
                        </a:rPr>
                        <a:t>Email ID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Mobile number</a:t>
                      </a:r>
                      <a:endParaRPr sz="1800" b="0" i="0" u="none" strike="noStrike" cap="none">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a:solidFill>
                            <a:srgbClr val="000000"/>
                          </a:solidFill>
                          <a:latin typeface="Arial"/>
                          <a:ea typeface="Calibri"/>
                          <a:cs typeface="Arial"/>
                          <a:sym typeface="Calibri"/>
                        </a:rPr>
                        <a:t>[WhatsApp] </a:t>
                      </a:r>
                      <a:endParaRPr sz="1800" b="0" i="0" u="none" strike="noStrike" cap="none">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IN" dirty="0"/>
                        <a:t>Kunj Panara</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kunjpanara412@gmail.com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a:t>8320365048</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err="1">
                <a:highlight>
                  <a:srgbClr val="FFFF00"/>
                </a:highlight>
              </a:rPr>
              <a:t>Argiculture</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err="1"/>
              <a:t>AgriSense</a:t>
            </a:r>
            <a:r>
              <a:rPr lang="en-US" sz="2400" b="1" dirty="0"/>
              <a:t> AI</a:t>
            </a:r>
            <a:endParaRPr lang="en-IN" sz="2400" b="1" dirty="0">
              <a:highlight>
                <a:srgbClr val="FFFF00"/>
              </a:highlight>
            </a:endParaRPr>
          </a:p>
        </p:txBody>
      </p:sp>
      <p:pic>
        <p:nvPicPr>
          <p:cNvPr id="5" name="Picture 4">
            <a:extLst>
              <a:ext uri="{FF2B5EF4-FFF2-40B4-BE49-F238E27FC236}">
                <a16:creationId xmlns:a16="http://schemas.microsoft.com/office/drawing/2014/main" id="{A7831BBA-55BA-CA58-712D-B7144632D091}"/>
              </a:ext>
            </a:extLst>
          </p:cNvPr>
          <p:cNvPicPr>
            <a:picLocks noChangeAspect="1"/>
          </p:cNvPicPr>
          <p:nvPr/>
        </p:nvPicPr>
        <p:blipFill>
          <a:blip r:embed="rId3"/>
          <a:stretch>
            <a:fillRect/>
          </a:stretch>
        </p:blipFill>
        <p:spPr>
          <a:xfrm>
            <a:off x="3388187" y="3584448"/>
            <a:ext cx="1286766" cy="118299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71016"/>
            <a:ext cx="10607040" cy="5262979"/>
          </a:xfrm>
          <a:prstGeom prst="rect">
            <a:avLst/>
          </a:prstGeom>
          <a:noFill/>
        </p:spPr>
        <p:txBody>
          <a:bodyPr wrap="square" rtlCol="0">
            <a:spAutoFit/>
          </a:bodyPr>
          <a:lstStyle/>
          <a:p>
            <a:r>
              <a:rPr lang="en-IN" b="1" dirty="0"/>
              <a:t>The Challenge</a:t>
            </a:r>
            <a:endParaRPr lang="en-IN" dirty="0"/>
          </a:p>
          <a:p>
            <a:r>
              <a:rPr lang="en-IN" dirty="0"/>
              <a:t>Farmers often struggle with low crop yield, unpredictable weather, pest infestations, and limited access to timely expert advice. Traditional farming advisory services are fragmented, slow, and not personalized to the farmer’s specific land, crop, or climate conditions. With the rise of climate change, data-driven smart farming solutions are needed to empower farmers with actionable insights.</a:t>
            </a:r>
          </a:p>
          <a:p>
            <a:r>
              <a:rPr lang="en-IN" b="1" dirty="0"/>
              <a:t>The Objective</a:t>
            </a:r>
            <a:endParaRPr lang="en-IN" dirty="0"/>
          </a:p>
          <a:p>
            <a:r>
              <a:rPr lang="en-IN" dirty="0"/>
              <a:t>Develop an AI-powered Smart Farming Agent that provides personalized, real-time, and sustainable agricultural advice. The solution should:</a:t>
            </a:r>
          </a:p>
          <a:p>
            <a:pPr lvl="0"/>
            <a:r>
              <a:rPr lang="en-IN" b="1" dirty="0"/>
              <a:t>Agricultural Knowledge Retrieval (RAG) –</a:t>
            </a:r>
            <a:r>
              <a:rPr lang="en-IN" dirty="0"/>
              <a:t> Use Retrieval-Augmented Generation to fetch best practices, crop-specific guidelines, and government advisory updates.</a:t>
            </a:r>
          </a:p>
          <a:p>
            <a:pPr lvl="0"/>
            <a:r>
              <a:rPr lang="en-IN" b="1" dirty="0"/>
              <a:t>Weather &amp; Soil Insights</a:t>
            </a:r>
            <a:r>
              <a:rPr lang="en-IN" dirty="0"/>
              <a:t> – Integrate real-time weather forecasts, soil health data, and irrigation needs to optimize farm planning.</a:t>
            </a:r>
          </a:p>
          <a:p>
            <a:pPr lvl="0"/>
            <a:r>
              <a:rPr lang="en-IN" b="1" dirty="0"/>
              <a:t>Pest &amp; Disease Detection –</a:t>
            </a:r>
            <a:r>
              <a:rPr lang="en-IN" dirty="0"/>
              <a:t> Enable multimodal support where farmers upload crop images for early pest/disease identification and get instant recommendations.</a:t>
            </a:r>
          </a:p>
          <a:p>
            <a:pPr lvl="0"/>
            <a:r>
              <a:rPr lang="en-IN" b="1" dirty="0"/>
              <a:t>Personalized Advisory Agent –</a:t>
            </a:r>
            <a:r>
              <a:rPr lang="en-IN" dirty="0"/>
              <a:t> Suggest seeds, fertilizers, irrigation schedules, and harvesting timelines based on farmer profile and land conditions.</a:t>
            </a:r>
          </a:p>
          <a:p>
            <a:pPr lvl="0"/>
            <a:r>
              <a:rPr lang="en-IN" b="1" dirty="0"/>
              <a:t>Market &amp; Cost Optimization –</a:t>
            </a:r>
            <a:r>
              <a:rPr lang="en-IN" dirty="0"/>
              <a:t> Forecast demand, suggest market prices, and recommend cost-efficient practices for better income.</a:t>
            </a:r>
          </a:p>
          <a:p>
            <a:pPr lvl="0"/>
            <a:r>
              <a:rPr lang="en-IN" b="1" dirty="0"/>
              <a:t>Multi-Agent Collaboration –</a:t>
            </a:r>
            <a:endParaRPr lang="en-IN" dirty="0"/>
          </a:p>
          <a:p>
            <a:pPr lvl="1"/>
            <a:r>
              <a:rPr lang="en-IN" dirty="0"/>
              <a:t>Crop Advisory Agent</a:t>
            </a:r>
          </a:p>
          <a:p>
            <a:pPr lvl="1"/>
            <a:r>
              <a:rPr lang="en-IN" dirty="0"/>
              <a:t>Weather &amp; Irrigation Agent</a:t>
            </a:r>
          </a:p>
          <a:p>
            <a:pPr lvl="1"/>
            <a:r>
              <a:rPr lang="en-IN" dirty="0"/>
              <a:t>Pest/Disease Detection Agent</a:t>
            </a:r>
          </a:p>
          <a:p>
            <a:pPr lvl="1"/>
            <a:r>
              <a:rPr lang="en-IN" dirty="0"/>
              <a:t>Market Insights Agent</a:t>
            </a:r>
          </a:p>
          <a:p>
            <a:r>
              <a:rPr lang="en-IN" b="1" dirty="0"/>
              <a:t>Tech Stack (Mandatory)</a:t>
            </a:r>
            <a:endParaRPr lang="en-IN" dirty="0"/>
          </a:p>
          <a:p>
            <a:pPr lvl="0"/>
            <a:r>
              <a:rPr lang="en-IN" dirty="0"/>
              <a:t>IBM </a:t>
            </a:r>
            <a:r>
              <a:rPr lang="en-IN" dirty="0" err="1"/>
              <a:t>Langflow</a:t>
            </a:r>
            <a:r>
              <a:rPr lang="en-IN" dirty="0"/>
              <a:t> / IBM Orchestrate + IBM Models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8741664" cy="830997"/>
          </a:xfrm>
          <a:prstGeom prst="rect">
            <a:avLst/>
          </a:prstGeom>
          <a:noFill/>
        </p:spPr>
        <p:txBody>
          <a:bodyPr wrap="square" rtlCol="0">
            <a:spAutoFit/>
          </a:bodyPr>
          <a:lstStyle/>
          <a:p>
            <a:r>
              <a:rPr lang="en-US" sz="2400" b="1" dirty="0"/>
              <a:t>Problem Statement - </a:t>
            </a:r>
            <a:r>
              <a:rPr lang="en-IN" sz="2400" b="1" dirty="0"/>
              <a:t>AI Agent for Smart Farming Advice</a:t>
            </a:r>
            <a:endParaRPr lang="en-IN" sz="2000" dirty="0"/>
          </a:p>
          <a:p>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53212" y="2104245"/>
            <a:ext cx="11085576" cy="2308324"/>
          </a:xfrm>
          <a:prstGeom prst="rect">
            <a:avLst/>
          </a:prstGeom>
          <a:noFill/>
        </p:spPr>
        <p:txBody>
          <a:bodyPr wrap="square" rtlCol="0">
            <a:spAutoFit/>
          </a:bodyPr>
          <a:lstStyle/>
          <a:p>
            <a:r>
              <a:rPr lang="en-IN" sz="1600" b="1" dirty="0" err="1"/>
              <a:t>AgriSense</a:t>
            </a:r>
            <a:r>
              <a:rPr lang="en-IN" sz="1600" b="1" dirty="0"/>
              <a:t> AI</a:t>
            </a:r>
            <a:r>
              <a:rPr lang="en-IN" sz="1600" dirty="0"/>
              <a:t> is an AI-powered Smart Farming Assistant designed to help farmers make informed agricultural decisions through personalized, real-time recommendations. Built using </a:t>
            </a:r>
            <a:r>
              <a:rPr lang="en-IN" sz="1600" b="1" dirty="0"/>
              <a:t>IBM Granite</a:t>
            </a:r>
            <a:r>
              <a:rPr lang="en-IN" sz="1600" dirty="0"/>
              <a:t>, </a:t>
            </a:r>
            <a:r>
              <a:rPr lang="en-IN" sz="1600" b="1" dirty="0"/>
              <a:t>IBM watsonx.ai</a:t>
            </a:r>
            <a:r>
              <a:rPr lang="en-IN" sz="1600" dirty="0"/>
              <a:t>, </a:t>
            </a:r>
            <a:r>
              <a:rPr lang="en-IN" sz="1600" b="1" dirty="0"/>
              <a:t>IBM </a:t>
            </a:r>
            <a:r>
              <a:rPr lang="en-IN" sz="1600" b="1" dirty="0" err="1"/>
              <a:t>Langflow</a:t>
            </a:r>
            <a:r>
              <a:rPr lang="en-IN" sz="1600" b="1" dirty="0"/>
              <a:t>/Orchestrate</a:t>
            </a:r>
            <a:r>
              <a:rPr lang="en-IN" sz="1600" dirty="0"/>
              <a:t>, and </a:t>
            </a:r>
            <a:r>
              <a:rPr lang="en-IN" sz="1600" b="1" dirty="0"/>
              <a:t>Retrieval-Augmented Generation (RAG)</a:t>
            </a:r>
            <a:r>
              <a:rPr lang="en-IN" sz="1600" dirty="0"/>
              <a:t>, the platform combines multiple AI agents for crop advisory, weather forecasting, pest and disease detection, irrigation planning, and market insights. Farmers can interact with the system in their preferred language using text or voice, upload crop images for instant disease diagnosis, and receive tailored recommendations based on their location, soil health, crop type, and weather conditions. By retrieving trusted agricultural knowledge from government advisories and combining it with live weather and market data, </a:t>
            </a:r>
            <a:r>
              <a:rPr lang="en-IN" sz="1600" dirty="0" err="1"/>
              <a:t>AgriSense</a:t>
            </a:r>
            <a:r>
              <a:rPr lang="en-IN" sz="1600" dirty="0"/>
              <a:t> AI provides accurate, context-aware guidance that improves crop yield, reduces farming costs, promotes sustainable practices, and helps farmers maximize their income through intelligent, data-driven decision-making.</a:t>
            </a:r>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a:t>Proposed Solution -</a:t>
            </a:r>
            <a:endParaRPr lang="en-IN" sz="2400" b="1"/>
          </a:p>
        </p:txBody>
      </p:sp>
    </p:spTree>
    <p:extLst>
      <p:ext uri="{BB962C8B-B14F-4D97-AF65-F5344CB8AC3E}">
        <p14:creationId xmlns:p14="http://schemas.microsoft.com/office/powerpoint/2010/main" val="22902949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51FBD4A-3273-E454-091D-D5B0678FC299}"/>
              </a:ext>
            </a:extLst>
          </p:cNvPr>
          <p:cNvSpPr txBox="1"/>
          <p:nvPr/>
        </p:nvSpPr>
        <p:spPr>
          <a:xfrm>
            <a:off x="777240" y="484632"/>
            <a:ext cx="7123176" cy="461665"/>
          </a:xfrm>
          <a:prstGeom prst="rect">
            <a:avLst/>
          </a:prstGeom>
          <a:noFill/>
        </p:spPr>
        <p:txBody>
          <a:bodyPr wrap="square" lIns="91440" tIns="45720" rIns="91440" bIns="45720" rtlCol="0" anchor="t">
            <a:spAutoFit/>
          </a:bodyPr>
          <a:lstStyle/>
          <a:p>
            <a:r>
              <a:rPr lang="en-US" sz="2400" b="1"/>
              <a:t>Technology Used</a:t>
            </a:r>
            <a:endParaRPr lang="en-IN" sz="2400" b="1"/>
          </a:p>
        </p:txBody>
      </p:sp>
      <p:sp>
        <p:nvSpPr>
          <p:cNvPr id="3" name="TextBox 2">
            <a:extLst>
              <a:ext uri="{FF2B5EF4-FFF2-40B4-BE49-F238E27FC236}">
                <a16:creationId xmlns:a16="http://schemas.microsoft.com/office/drawing/2014/main" id="{4A7608B5-9906-EFCF-959A-E89FC2E3EE19}"/>
              </a:ext>
            </a:extLst>
          </p:cNvPr>
          <p:cNvSpPr txBox="1"/>
          <p:nvPr/>
        </p:nvSpPr>
        <p:spPr>
          <a:xfrm>
            <a:off x="777240" y="1207008"/>
            <a:ext cx="10515600" cy="5078313"/>
          </a:xfrm>
          <a:prstGeom prst="rect">
            <a:avLst/>
          </a:prstGeom>
          <a:noFill/>
        </p:spPr>
        <p:txBody>
          <a:bodyPr wrap="square" lIns="91440" tIns="45720" rIns="91440" bIns="45720" rtlCol="0" anchor="t">
            <a:spAutoFit/>
          </a:bodyPr>
          <a:lstStyle/>
          <a:p>
            <a:r>
              <a:rPr lang="en-IN" sz="1800" b="1" dirty="0"/>
              <a:t>IBM Granite Model (e.g., IBM Granite 3.2 8B)</a:t>
            </a:r>
            <a:r>
              <a:rPr lang="en-IN" sz="1800" dirty="0"/>
              <a:t> – Used for natural language understanding, multilingual conversations, reasoning, and personalized farming recommendations. It </a:t>
            </a:r>
            <a:r>
              <a:rPr lang="en-IN" sz="1800" dirty="0" err="1"/>
              <a:t>analyzes</a:t>
            </a:r>
            <a:r>
              <a:rPr lang="en-IN" sz="1800" dirty="0"/>
              <a:t> farmer queries and provides intelligent advice on crop selection, irrigation, fertilizer usage, pest management, harvesting schedules, and government schemes.</a:t>
            </a:r>
          </a:p>
          <a:p>
            <a:r>
              <a:rPr lang="en-IN" sz="1800" b="1" dirty="0"/>
              <a:t>IBM Cloud</a:t>
            </a:r>
            <a:r>
              <a:rPr lang="en-IN" sz="1800" dirty="0"/>
              <a:t> – Provides the secure, reliable, and scalable infrastructure to build, deploy, and manage the </a:t>
            </a:r>
            <a:r>
              <a:rPr lang="en-IN" sz="1800" dirty="0" err="1"/>
              <a:t>AgriSense</a:t>
            </a:r>
            <a:r>
              <a:rPr lang="en-IN" sz="1800" dirty="0"/>
              <a:t> AI platform. IBM Cloud hosts the AI services, APIs, databases, and application, ensuring high availability and seamless scalability.</a:t>
            </a:r>
          </a:p>
          <a:p>
            <a:r>
              <a:rPr lang="en-IN" sz="1800" b="1" dirty="0"/>
              <a:t>Retrieval-Augmented Generation (RAG)</a:t>
            </a:r>
            <a:r>
              <a:rPr lang="en-IN" sz="1800" dirty="0"/>
              <a:t> – Retrieves real-time agricultural knowledge from trusted sources such as ICAR guidelines, government advisories, weather updates, crop management documents, and agricultural schemes before generating responses. This makes the AI assistant more accurate, trustworthy, and up to date.</a:t>
            </a:r>
          </a:p>
          <a:p>
            <a:r>
              <a:rPr lang="en-IN" sz="1800" b="1" dirty="0"/>
              <a:t>IBM Watsonx.ai</a:t>
            </a:r>
            <a:r>
              <a:rPr lang="en-IN" sz="1800" dirty="0"/>
              <a:t> – Used for AI model deployment, prompt engineering, embeddings, model management, and AI governance. It powers the intelligent recommendation engine and enables secure, responsible AI throughout the platform.</a:t>
            </a:r>
          </a:p>
          <a:p>
            <a:r>
              <a:rPr lang="en-IN" sz="1800" b="1" dirty="0"/>
              <a:t>Vector Database (FAISS/</a:t>
            </a:r>
            <a:r>
              <a:rPr lang="en-IN" sz="1800" b="1" dirty="0" err="1"/>
              <a:t>ChromaDB</a:t>
            </a:r>
            <a:r>
              <a:rPr lang="en-IN" sz="1800" b="1" dirty="0"/>
              <a:t>)</a:t>
            </a:r>
            <a:r>
              <a:rPr lang="en-IN" sz="1800" dirty="0"/>
              <a:t> – Stores vector embeddings of agricultural documents, crop guides, pest and disease information, government schemes, and farming best practices. It enables fast semantic search for the RAG pipeline, ensuring highly relevant and context-aware responses to farmer queries.</a:t>
            </a:r>
          </a:p>
        </p:txBody>
      </p:sp>
    </p:spTree>
    <p:extLst>
      <p:ext uri="{BB962C8B-B14F-4D97-AF65-F5344CB8AC3E}">
        <p14:creationId xmlns:p14="http://schemas.microsoft.com/office/powerpoint/2010/main" val="37644058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a:t>Role of Agentic AI in the solution </a:t>
            </a:r>
            <a:endParaRPr lang="en-IN" sz="3200" b="1"/>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4708981"/>
          </a:xfrm>
          <a:prstGeom prst="rect">
            <a:avLst/>
          </a:prstGeom>
          <a:noFill/>
        </p:spPr>
        <p:txBody>
          <a:bodyPr wrap="square" rtlCol="0">
            <a:spAutoFit/>
          </a:bodyPr>
          <a:lstStyle/>
          <a:p>
            <a:r>
              <a:rPr lang="en-IN" sz="1200" b="1" dirty="0"/>
              <a:t>Role of Agentic AI in </a:t>
            </a:r>
            <a:r>
              <a:rPr lang="en-IN" sz="1200" b="1" dirty="0" err="1"/>
              <a:t>AgriSense</a:t>
            </a:r>
            <a:r>
              <a:rPr lang="en-IN" sz="1200" b="1" dirty="0"/>
              <a:t> AI – Smart Farming Agent</a:t>
            </a:r>
          </a:p>
          <a:p>
            <a:r>
              <a:rPr lang="en-IN" sz="1200" dirty="0"/>
              <a:t>Agentic AI enables </a:t>
            </a:r>
            <a:r>
              <a:rPr lang="en-IN" sz="1200" b="1" dirty="0" err="1"/>
              <a:t>AgriSense</a:t>
            </a:r>
            <a:r>
              <a:rPr lang="en-IN" sz="1200" b="1" dirty="0"/>
              <a:t> AI</a:t>
            </a:r>
            <a:r>
              <a:rPr lang="en-IN" sz="1200" dirty="0"/>
              <a:t> to function as an intelligent, autonomous farming assistant rather than a simple chatbot. Using </a:t>
            </a:r>
            <a:r>
              <a:rPr lang="en-IN" sz="1200" b="1" dirty="0"/>
              <a:t>IBM watsonx.ai</a:t>
            </a:r>
            <a:r>
              <a:rPr lang="en-IN" sz="1200" dirty="0"/>
              <a:t>, </a:t>
            </a:r>
            <a:r>
              <a:rPr lang="en-IN" sz="1200" b="1" dirty="0"/>
              <a:t>IBM Granite models</a:t>
            </a:r>
            <a:r>
              <a:rPr lang="en-IN" sz="1200" dirty="0"/>
              <a:t>, and </a:t>
            </a:r>
            <a:r>
              <a:rPr lang="en-IN" sz="1200" b="1" dirty="0"/>
              <a:t>IBM Orchestrate/</a:t>
            </a:r>
            <a:r>
              <a:rPr lang="en-IN" sz="1200" b="1" dirty="0" err="1"/>
              <a:t>Langflow</a:t>
            </a:r>
            <a:r>
              <a:rPr lang="en-IN" sz="1200" dirty="0"/>
              <a:t>, it coordinates multiple specialized AI agents to provide personalized, real-time farming recommendations.</a:t>
            </a:r>
          </a:p>
          <a:p>
            <a:r>
              <a:rPr lang="en-IN" sz="1200" dirty="0"/>
              <a:t>Each AI agent is responsible for a specific task while collaborating with the others to deliver accurate and actionable insights:</a:t>
            </a:r>
          </a:p>
          <a:p>
            <a:r>
              <a:rPr lang="en-IN" sz="1200" b="1" dirty="0"/>
              <a:t>Crop Advisory Agent</a:t>
            </a:r>
            <a:r>
              <a:rPr lang="en-IN" sz="1200" dirty="0"/>
              <a:t> recommends suitable crops, seeds, fertilizers, and harvesting schedules based on the farmer's location, soil type, season, and farm profile.</a:t>
            </a:r>
          </a:p>
          <a:p>
            <a:r>
              <a:rPr lang="en-IN" sz="1200" b="1" dirty="0"/>
              <a:t>Weather &amp; Irrigation Agent</a:t>
            </a:r>
            <a:r>
              <a:rPr lang="en-IN" sz="1200" dirty="0"/>
              <a:t> retrieves real-time weather forecasts and predicts irrigation requirements to help farmers optimize water usage and protect crops from adverse weather conditions.</a:t>
            </a:r>
          </a:p>
          <a:p>
            <a:r>
              <a:rPr lang="en-IN" sz="1200" b="1" dirty="0"/>
              <a:t>Pest &amp; Disease Detection Agent</a:t>
            </a:r>
            <a:r>
              <a:rPr lang="en-IN" sz="1200" dirty="0"/>
              <a:t> </a:t>
            </a:r>
            <a:r>
              <a:rPr lang="en-IN" sz="1200" dirty="0" err="1"/>
              <a:t>analyzes</a:t>
            </a:r>
            <a:r>
              <a:rPr lang="en-IN" sz="1200" dirty="0"/>
              <a:t> uploaded crop images using AI to identify pests and diseases, assess severity, and recommend appropriate treatments and preventive measures.</a:t>
            </a:r>
          </a:p>
          <a:p>
            <a:r>
              <a:rPr lang="en-IN" sz="1200" b="1" dirty="0"/>
              <a:t>Market Insights Agent</a:t>
            </a:r>
            <a:r>
              <a:rPr lang="en-IN" sz="1200" dirty="0"/>
              <a:t> monitors live market prices, demand trends, and mandi data to suggest the best time and place to sell crops for maximum profit.</a:t>
            </a:r>
          </a:p>
          <a:p>
            <a:r>
              <a:rPr lang="en-IN" sz="1200" dirty="0"/>
              <a:t>Agentic AI provides </a:t>
            </a:r>
            <a:r>
              <a:rPr lang="en-IN" sz="1200" b="1" dirty="0"/>
              <a:t>context-aware recommendations</a:t>
            </a:r>
            <a:r>
              <a:rPr lang="en-IN" sz="1200" dirty="0"/>
              <a:t> by understanding the farmer's crop type, land size, soil health, weather conditions, farming history, and preferred language. This enables highly personalized advice instead of generic agricultural recommendations.</a:t>
            </a:r>
          </a:p>
          <a:p>
            <a:r>
              <a:rPr lang="en-IN" sz="1200" dirty="0"/>
              <a:t>The system also supports </a:t>
            </a:r>
            <a:r>
              <a:rPr lang="en-IN" sz="1200" b="1" dirty="0"/>
              <a:t>real-time adaptation</a:t>
            </a:r>
            <a:r>
              <a:rPr lang="en-IN" sz="1200" dirty="0"/>
              <a:t>, continuously updating recommendations whenever weather forecasts change, new pest outbreaks are detected, or market prices fluctuate.</a:t>
            </a:r>
          </a:p>
          <a:p>
            <a:r>
              <a:rPr lang="en-IN" sz="1200" dirty="0"/>
              <a:t>Through seamless communication between all specialized agents, </a:t>
            </a:r>
            <a:r>
              <a:rPr lang="en-IN" sz="1200" dirty="0" err="1"/>
              <a:t>AgriSense</a:t>
            </a:r>
            <a:r>
              <a:rPr lang="en-IN" sz="1200" dirty="0"/>
              <a:t> AI combines weather intelligence, crop knowledge, disease detection, and market analysis into a single, comprehensive recommendation, enabling smarter and more informed farming decisions.</a:t>
            </a:r>
          </a:p>
          <a:p>
            <a:r>
              <a:rPr lang="en-IN" sz="1200" dirty="0"/>
              <a:t>Overall, Agentic AI transforms </a:t>
            </a:r>
            <a:r>
              <a:rPr lang="en-IN" sz="1200" dirty="0" err="1"/>
              <a:t>AgriSense</a:t>
            </a:r>
            <a:r>
              <a:rPr lang="en-IN" sz="1200" dirty="0"/>
              <a:t> AI into a proactive, intelligent, and personalized digital farming assistant that helps farmers improve crop yield, reduce operational costs, minimize risks, and increase profitability while promoting sustainable agricultural practices.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5755422"/>
          </a:xfrm>
          <a:prstGeom prst="rect">
            <a:avLst/>
          </a:prstGeom>
          <a:noFill/>
        </p:spPr>
        <p:txBody>
          <a:bodyPr wrap="square" rtlCol="0">
            <a:spAutoFit/>
          </a:bodyPr>
          <a:lstStyle/>
          <a:p>
            <a:r>
              <a:rPr lang="en-IN" sz="1600" b="1" dirty="0"/>
              <a:t>Novelty and Uniqueness</a:t>
            </a:r>
          </a:p>
          <a:p>
            <a:r>
              <a:rPr lang="en-IN" sz="1600" dirty="0"/>
              <a:t>The proposed </a:t>
            </a:r>
            <a:r>
              <a:rPr lang="en-IN" sz="1600" b="1" dirty="0" err="1"/>
              <a:t>AgriSense</a:t>
            </a:r>
            <a:r>
              <a:rPr lang="en-IN" sz="1600" b="1" dirty="0"/>
              <a:t> AI – Smart Farming Agent</a:t>
            </a:r>
            <a:r>
              <a:rPr lang="en-IN" sz="1600" dirty="0"/>
              <a:t> stands out by combining </a:t>
            </a:r>
            <a:r>
              <a:rPr lang="en-IN" sz="1600" b="1" dirty="0"/>
              <a:t>Agentic AI, Retrieval-Augmented Generation (RAG), multimodal AI, and real-time agricultural intelligence</a:t>
            </a:r>
            <a:r>
              <a:rPr lang="en-IN" sz="1600" dirty="0"/>
              <a:t> into a single intelligent farming platform.</a:t>
            </a:r>
          </a:p>
          <a:p>
            <a:r>
              <a:rPr lang="en-IN" sz="1600" b="1" dirty="0"/>
              <a:t>Multi-Agent Intelligence</a:t>
            </a:r>
            <a:r>
              <a:rPr lang="en-IN" sz="1600" dirty="0"/>
              <a:t> – Instead of relying on a single chatbot, multiple specialized AI agents collaborate to provide personalized crop advisory, weather forecasting, pest and disease detection, irrigation planning, and market insights.</a:t>
            </a:r>
          </a:p>
          <a:p>
            <a:r>
              <a:rPr lang="en-IN" sz="1600" b="1" dirty="0"/>
              <a:t>RAG-Based Agricultural Knowledge</a:t>
            </a:r>
            <a:r>
              <a:rPr lang="en-IN" sz="1600" dirty="0"/>
              <a:t> – Retrieves the latest farming guidelines, government advisories, crop management practices, and agricultural schemes before generating responses, ensuring accurate, trustworthy, and up-to-date recommendations.</a:t>
            </a:r>
          </a:p>
          <a:p>
            <a:r>
              <a:rPr lang="en-IN" sz="1600" b="1" dirty="0"/>
              <a:t>Hyper-Personalized Farming Advice</a:t>
            </a:r>
            <a:r>
              <a:rPr lang="en-IN" sz="1600" dirty="0"/>
              <a:t> – Generates recommendations based on the farmer's location, soil health, crop type, land size, weather conditions, and farming history, making every suggestion relevant to individual farm needs.</a:t>
            </a:r>
          </a:p>
          <a:p>
            <a:r>
              <a:rPr lang="en-IN" sz="1600" b="1" dirty="0"/>
              <a:t>Real-Time Decision Support</a:t>
            </a:r>
            <a:r>
              <a:rPr lang="en-IN" sz="1600" dirty="0"/>
              <a:t> – Continuously updates recommendations using live weather forecasts, soil information, pest alerts, and market price fluctuations to help farmers make timely decisions.</a:t>
            </a:r>
          </a:p>
          <a:p>
            <a:r>
              <a:rPr lang="en-IN" sz="1600" b="1" dirty="0"/>
              <a:t>Multimodal Interaction</a:t>
            </a:r>
            <a:r>
              <a:rPr lang="en-IN" sz="1600" dirty="0"/>
              <a:t> – Supports text, voice, and image inputs, allowing farmers to ask questions in their preferred language, upload crop images for disease detection, and receive voice-enabled recommendations.</a:t>
            </a:r>
          </a:p>
          <a:p>
            <a:r>
              <a:rPr lang="en-IN" sz="1600" b="1" dirty="0"/>
              <a:t>Farmer-Friendly Accessibility</a:t>
            </a:r>
            <a:r>
              <a:rPr lang="en-IN" sz="1600" dirty="0"/>
              <a:t> – Offers multilingual support, voice assistance, and a simple user interface designed for farmers with varying levels of digital literacy.</a:t>
            </a:r>
          </a:p>
          <a:p>
            <a:r>
              <a:rPr lang="en-IN" sz="1600" b="1" dirty="0"/>
              <a:t>Sustainable &amp; Cost-Optimized Farming</a:t>
            </a:r>
            <a:r>
              <a:rPr lang="en-IN" sz="1600" dirty="0"/>
              <a:t> – Recommends efficient irrigation schedules, fertilizer usage, and cost-effective farming practices to improve productivity while conserving natural resources.</a:t>
            </a:r>
          </a:p>
          <a:p>
            <a:r>
              <a:rPr lang="en-IN" sz="1600" b="1" dirty="0"/>
              <a:t>Enterprise-Ready &amp; Scalable</a:t>
            </a:r>
            <a:r>
              <a:rPr lang="en-IN" sz="1600" dirty="0"/>
              <a:t> – Built on </a:t>
            </a:r>
            <a:r>
              <a:rPr lang="en-IN" sz="1600" b="1" dirty="0"/>
              <a:t>IBM Granite</a:t>
            </a:r>
            <a:r>
              <a:rPr lang="en-IN" sz="1600" dirty="0"/>
              <a:t>, </a:t>
            </a:r>
            <a:r>
              <a:rPr lang="en-IN" sz="1600" b="1" dirty="0"/>
              <a:t>IBM watsonx.ai</a:t>
            </a:r>
            <a:r>
              <a:rPr lang="en-IN" sz="1600" dirty="0"/>
              <a:t>, </a:t>
            </a:r>
            <a:r>
              <a:rPr lang="en-IN" sz="1600" b="1" dirty="0"/>
              <a:t>IBM </a:t>
            </a:r>
            <a:r>
              <a:rPr lang="en-IN" sz="1600" b="1" dirty="0" err="1"/>
              <a:t>Langflow</a:t>
            </a:r>
            <a:r>
              <a:rPr lang="en-IN" sz="1600" b="1" dirty="0"/>
              <a:t>/Orchestrate</a:t>
            </a:r>
            <a:r>
              <a:rPr lang="en-IN" sz="1600" dirty="0"/>
              <a:t>, and </a:t>
            </a:r>
            <a:r>
              <a:rPr lang="en-IN" sz="1600" b="1" dirty="0"/>
              <a:t>IBM Cloud</a:t>
            </a:r>
            <a:r>
              <a:rPr lang="en-IN" sz="1600" dirty="0"/>
              <a:t>, ensuring secure, scalable, and responsible AI deployment.</a:t>
            </a:r>
          </a:p>
          <a:p>
            <a:r>
              <a:rPr lang="en-IN" sz="1600" dirty="0"/>
              <a:t>This makes </a:t>
            </a:r>
            <a:r>
              <a:rPr lang="en-IN" sz="1600" b="1" dirty="0" err="1"/>
              <a:t>AgriSense</a:t>
            </a:r>
            <a:r>
              <a:rPr lang="en-IN" sz="1600" b="1" dirty="0"/>
              <a:t> AI</a:t>
            </a:r>
            <a:r>
              <a:rPr lang="en-IN" sz="1600" dirty="0"/>
              <a:t> a proactive, intelligent, and personalized digital farming companion that goes beyond traditional advisory systems by delivering real-time, data-driven insights to improve crop yield, reduce risks, and maximize farmers' income.</a:t>
            </a:r>
          </a:p>
        </p:txBody>
      </p:sp>
    </p:spTree>
    <p:extLst>
      <p:ext uri="{BB962C8B-B14F-4D97-AF65-F5344CB8AC3E}">
        <p14:creationId xmlns:p14="http://schemas.microsoft.com/office/powerpoint/2010/main" val="917964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Git Hub Link</a:t>
            </a:r>
            <a:endParaRPr sz="2400" b="1">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1850" dirty="0">
                <a:latin typeface="Times New Roman"/>
                <a:ea typeface="Times New Roman"/>
                <a:cs typeface="Times New Roman"/>
                <a:sym typeface="Times New Roman"/>
              </a:rPr>
              <a:t>https://github.com/kunj2006-05/AgriSense-AI-IMB-project-</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a:sym typeface="Times New Roman"/>
              </a:rPr>
              <a:t>Future Scope </a:t>
            </a:r>
            <a:endParaRPr sz="2400" b="1">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endParaRPr lang="en-IN" sz="2000" b="1" dirty="0"/>
          </a:p>
          <a:p>
            <a:r>
              <a:rPr lang="en-IN" sz="2000" b="1" dirty="0"/>
              <a:t>1.IoT &amp; Smart Farming Sensor Integration</a:t>
            </a:r>
            <a:r>
              <a:rPr lang="en-IN" sz="2000" dirty="0"/>
              <a:t> –</a:t>
            </a:r>
            <a:br>
              <a:rPr lang="en-IN" sz="2000" dirty="0"/>
            </a:br>
            <a:r>
              <a:rPr lang="en-IN" sz="2000" dirty="0"/>
              <a:t>The system can be integrated with IoT devices such as soil moisture sensors, weather stations, drones, and smart irrigation systems to collect real-time farm data. This will enable </a:t>
            </a:r>
            <a:r>
              <a:rPr lang="en-IN" sz="2000" dirty="0" err="1"/>
              <a:t>AgriSense</a:t>
            </a:r>
            <a:r>
              <a:rPr lang="en-IN" sz="2000" dirty="0"/>
              <a:t> AI to provide more precise recommendations for irrigation, fertilizer application, crop health monitoring, and resource optimization based on live field conditions.</a:t>
            </a:r>
          </a:p>
          <a:p>
            <a:r>
              <a:rPr lang="en-IN" sz="2000" b="1" dirty="0"/>
              <a:t>2. AI-Powered Voice Assistant &amp; Multilingual Support</a:t>
            </a:r>
            <a:r>
              <a:rPr lang="en-IN" sz="2000" dirty="0"/>
              <a:t> –</a:t>
            </a:r>
            <a:br>
              <a:rPr lang="en-IN" sz="2000" dirty="0"/>
            </a:br>
            <a:r>
              <a:rPr lang="en-IN" sz="2000" dirty="0" err="1"/>
              <a:t>AgriSense</a:t>
            </a:r>
            <a:r>
              <a:rPr lang="en-IN" sz="2000" dirty="0"/>
              <a:t> AI can be enhanced with a voice-enabled assistant supporting multiple regional languages such as Hindi, Gujarati, Marathi, Punjabi, Tamil, Telugu, and Kannada. Farmers will be able to interact with the system through voice commands and receive spoken recommendations, making the platform more accessible for users with limited literacy and improving adoption across rural communities.</a:t>
            </a:r>
          </a:p>
        </p:txBody>
      </p:sp>
      <p:sp>
        <p:nvSpPr>
          <p:cNvPr id="280" name="Google Shape;280;p18">
            <a:extLst>
              <a:ext uri="{FF2B5EF4-FFF2-40B4-BE49-F238E27FC236}">
                <a16:creationId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a:solidFill>
                  <a:srgbClr val="2B3541"/>
                </a:solidFill>
                <a:latin typeface="Times New Roman"/>
                <a:ea typeface="Times New Roman"/>
                <a:cs typeface="Times New Roman"/>
                <a:sym typeface="Times New Roman"/>
              </a:rPr>
              <a:t>·</a:t>
            </a:r>
            <a:endParaRPr sz="1850" b="0" i="0" u="none" strike="noStrike" cap="none">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F1C7BCA-5DD7-F4D3-A937-D1C56976DA01}"/>
              </a:ext>
            </a:extLst>
          </p:cNvPr>
          <p:cNvSpPr txBox="1"/>
          <p:nvPr/>
        </p:nvSpPr>
        <p:spPr>
          <a:xfrm>
            <a:off x="327949" y="207380"/>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Certificates Earned:</a:t>
            </a:r>
          </a:p>
          <a:p>
            <a:pPr algn="ctr"/>
            <a:endParaRPr lang="en-US"/>
          </a:p>
        </p:txBody>
      </p:sp>
      <p:pic>
        <p:nvPicPr>
          <p:cNvPr id="5" name="Picture 4">
            <a:extLst>
              <a:ext uri="{FF2B5EF4-FFF2-40B4-BE49-F238E27FC236}">
                <a16:creationId xmlns:a16="http://schemas.microsoft.com/office/drawing/2014/main" id="{18CD1DAD-8749-AE1C-8576-833EB3898EC2}"/>
              </a:ext>
            </a:extLst>
          </p:cNvPr>
          <p:cNvPicPr>
            <a:picLocks noChangeAspect="1"/>
          </p:cNvPicPr>
          <p:nvPr/>
        </p:nvPicPr>
        <p:blipFill>
          <a:blip r:embed="rId2"/>
          <a:stretch>
            <a:fillRect/>
          </a:stretch>
        </p:blipFill>
        <p:spPr>
          <a:xfrm>
            <a:off x="2434538" y="884488"/>
            <a:ext cx="7322924" cy="5556896"/>
          </a:xfrm>
          <a:prstGeom prst="rect">
            <a:avLst/>
          </a:prstGeom>
        </p:spPr>
      </p:pic>
    </p:spTree>
    <p:extLst>
      <p:ext uri="{BB962C8B-B14F-4D97-AF65-F5344CB8AC3E}">
        <p14:creationId xmlns:p14="http://schemas.microsoft.com/office/powerpoint/2010/main" val="1229047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A8544A9-CF92-3FAF-D3EE-31DF90F7A64D}"/>
              </a:ext>
            </a:extLst>
          </p:cNvPr>
          <p:cNvSpPr txBox="1"/>
          <p:nvPr/>
        </p:nvSpPr>
        <p:spPr>
          <a:xfrm>
            <a:off x="176696" y="226391"/>
            <a:ext cx="6096000" cy="67710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u="none" strike="noStrike" baseline="0">
                <a:solidFill>
                  <a:srgbClr val="000000"/>
                </a:solidFill>
                <a:latin typeface="Arial"/>
              </a:rPr>
              <a:t>Certificates Earned:</a:t>
            </a:r>
            <a:r>
              <a:rPr sz="2400" b="0" i="0">
                <a:solidFill>
                  <a:srgbClr val="000000"/>
                </a:solidFill>
                <a:latin typeface="Arial"/>
                <a:ea typeface="Arial"/>
                <a:cs typeface="Arial"/>
              </a:rPr>
              <a:t>​</a:t>
            </a:r>
            <a:endParaRPr lang="en-US"/>
          </a:p>
          <a:p>
            <a:pPr algn="ctr"/>
            <a:endParaRPr lang="en-US"/>
          </a:p>
        </p:txBody>
      </p:sp>
      <p:pic>
        <p:nvPicPr>
          <p:cNvPr id="3" name="Picture 2">
            <a:extLst>
              <a:ext uri="{FF2B5EF4-FFF2-40B4-BE49-F238E27FC236}">
                <a16:creationId xmlns:a16="http://schemas.microsoft.com/office/drawing/2014/main" id="{0FCC274E-2196-B8BC-6DD0-621102056E2C}"/>
              </a:ext>
            </a:extLst>
          </p:cNvPr>
          <p:cNvPicPr>
            <a:picLocks noChangeAspect="1"/>
          </p:cNvPicPr>
          <p:nvPr/>
        </p:nvPicPr>
        <p:blipFill>
          <a:blip r:embed="rId2"/>
          <a:stretch>
            <a:fillRect/>
          </a:stretch>
        </p:blipFill>
        <p:spPr>
          <a:xfrm>
            <a:off x="1659971" y="800470"/>
            <a:ext cx="9225450" cy="5723333"/>
          </a:xfrm>
          <a:prstGeom prst="rect">
            <a:avLst/>
          </a:prstGeom>
        </p:spPr>
      </p:pic>
    </p:spTree>
    <p:extLst>
      <p:ext uri="{BB962C8B-B14F-4D97-AF65-F5344CB8AC3E}">
        <p14:creationId xmlns:p14="http://schemas.microsoft.com/office/powerpoint/2010/main" val="25066107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2" name="TextBox 1">
            <a:extLst>
              <a:ext uri="{FF2B5EF4-FFF2-40B4-BE49-F238E27FC236}">
                <a16:creationId xmlns:a16="http://schemas.microsoft.com/office/drawing/2014/main" id="{468740D2-68FF-CFFE-3631-E942D8EE67BF}"/>
              </a:ext>
            </a:extLst>
          </p:cNvPr>
          <p:cNvSpPr txBox="1"/>
          <p:nvPr/>
        </p:nvSpPr>
        <p:spPr>
          <a:xfrm>
            <a:off x="2057400" y="2560320"/>
            <a:ext cx="10607040" cy="1569660"/>
          </a:xfrm>
          <a:prstGeom prst="rect">
            <a:avLst/>
          </a:prstGeom>
          <a:noFill/>
        </p:spPr>
        <p:txBody>
          <a:bodyPr wrap="square" rtlCol="0">
            <a:spAutoFit/>
          </a:bodyPr>
          <a:lstStyle/>
          <a:p>
            <a:r>
              <a:rPr lang="en-IN" sz="9600" b="1" dirty="0"/>
              <a:t>THANK YOU!</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1546</Words>
  <Application>Microsoft Office PowerPoint</Application>
  <PresentationFormat>Widescreen</PresentationFormat>
  <Paragraphs>76</Paragraphs>
  <Slides>12</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kunj panara</cp:lastModifiedBy>
  <cp:revision>17</cp:revision>
  <dcterms:created xsi:type="dcterms:W3CDTF">2025-07-08T05:06:56Z</dcterms:created>
  <dcterms:modified xsi:type="dcterms:W3CDTF">2026-07-11T07:39:57Z</dcterms:modified>
</cp:coreProperties>
</file>